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La idea central: el cliente toca múltiples canales (web, app, campañas, notificaciones) y Amplitude une todo ese recorrido en un único perfil en tiempo real. No abrir con jerga; abrir con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Amplitude: cuatro capacidades integradas — Analytics, Experiment, Session Replay y Audiences — que trabajan sobre el mismo grafo de datos. Enfatizar 'integradas': no son cuatro herramientas sueltas.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diferenciador técnico: Amplitude une el anonymous ID de la web con el user ID de la app en un mismo perfil. La columna derecha es un journey real — web lunes, app lunes, transacción martes — todo en un funnel. Buen momento para el comité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preguntas de negocio que el banco puede responder en minutos. Las preguntas están formuladas como las haría un PO. Nota: cifras puntuales se han quitado por no estar validadas; los ejemplos de cohorte son ilustrativos.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del comité de riesgo: ¿podemos usar analytics en un banco? Sí. Certificaciones, GDPR/CCPA, PII masking en origen, data residency. La columna derecha muestra el flujo de datos: el dato sensible nunca viaja en claro. Se quitó la lista de clientes por no ser verificable.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reemplazo disruptivo: se conecta con el stack actual. Data In (Segment, mParticle, API), Activación (Braze, Salesforce), Data Out (Snowflake, BigQuery). Mensaje clave para IT: SDKs nativos, complementa lo existente, sin lock-in — los datos siempre son tuyos.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estratégico. Amplitude no es una herramienta puntual, es la columna vertebral de la estrategia de datos. La derecha muestra la madurez en el tiempo: Año 1 visibilidad, Año 2 optimización, Año 3 predicción. El dato compuesto: empezar antes crea un activo que la competencia no puede replicar.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21637" y="1436191"/>
            <a:ext cx="495300" cy="495300"/>
          </a:xfrm>
          <a:prstGeom prst="roundRect">
            <a:avLst>
              <a:gd name="adj" fmla="val 25000"/>
            </a:avLst>
          </a:prstGeom>
          <a:ln/>
          <a:effectLst>
            <a:outerShdw sx="100000" sy="100000" kx="0" ky="0" algn="bl" rotWithShape="0" blurRad="209550" dist="57150" dir="5400000">
              <a:srgbClr val="000000">
                <a:alpha val="4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637" y="1436191"/>
            <a:ext cx="495300" cy="495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12187" y="1560016"/>
            <a:ext cx="249227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38" kern="0" dirty="0">
                <a:solidFill>
                  <a:srgbClr val="CDD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 · Banca Digital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934325" y="2331541"/>
            <a:ext cx="2419350" cy="352425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7200" y="2417266"/>
            <a:ext cx="21336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PROPUESTA DE VALOR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3355657" y="2969716"/>
            <a:ext cx="11576685" cy="2218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Entiende el comportamiento completo de tus </a:t>
            </a:r>
            <a:pPr algn="ctr" indent="0" marL="0">
              <a:lnSpc>
                <a:spcPct val="106000"/>
              </a:lnSpc>
              <a:buNone/>
            </a:pPr>
            <a:r>
              <a:rPr lang="en-US" sz="5400" b="1" spc="-150" kern="0" dirty="0">
                <a:solidFill>
                  <a:srgbClr val="6AA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digitales</a:t>
            </a:r>
            <a:pPr algn="ctr" indent="0" marL="0">
              <a:lnSpc>
                <a:spcPct val="106000"/>
              </a:lnSpc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827270" y="5397996"/>
            <a:ext cx="863346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cliente descubre el banco en la web, abre su cuenta en la app, transfiere y consulta saldos. </a:t>
            </a:r>
            <a:pPr algn="ctr" indent="0" marL="0">
              <a:lnSpc>
                <a:spcPct val="162000"/>
              </a:lnSpc>
              <a:buNone/>
            </a:pPr>
            <a:r>
              <a:rPr lang="en-US" sz="1875" dirty="0">
                <a:solidFill>
                  <a:srgbClr val="E8EE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Amplitude conecta todo ese recorrido en un único perfil — en tiempo real.</a:t>
            </a:r>
            <a:endParaRPr lang="en-US" sz="1875" dirty="0"/>
          </a:p>
        </p:txBody>
      </p:sp>
      <p:sp>
        <p:nvSpPr>
          <p:cNvPr id="10" name="Shape 7"/>
          <p:cNvSpPr/>
          <p:nvPr/>
        </p:nvSpPr>
        <p:spPr>
          <a:xfrm>
            <a:off x="3619500" y="7069634"/>
            <a:ext cx="2633663" cy="1781175"/>
          </a:xfrm>
          <a:prstGeom prst="roundRect">
            <a:avLst>
              <a:gd name="adj" fmla="val 1069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0106" y="7326809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456" y="7460159"/>
            <a:ext cx="285750" cy="2857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27190" y="8012609"/>
            <a:ext cx="101828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Móvil</a:t>
            </a:r>
            <a:endParaRPr lang="en-US" sz="1575" dirty="0"/>
          </a:p>
        </p:txBody>
      </p:sp>
      <p:sp>
        <p:nvSpPr>
          <p:cNvPr id="14" name="Text 10"/>
          <p:cNvSpPr/>
          <p:nvPr/>
        </p:nvSpPr>
        <p:spPr>
          <a:xfrm>
            <a:off x="3948559" y="8403134"/>
            <a:ext cx="1975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3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Onboarding · Transacciones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24613" y="7069634"/>
            <a:ext cx="2633663" cy="1781175"/>
          </a:xfrm>
          <a:prstGeom prst="roundRect">
            <a:avLst>
              <a:gd name="adj" fmla="val 1069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65219" y="7326809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569" y="7460159"/>
            <a:ext cx="285750" cy="2857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9171" y="8012609"/>
            <a:ext cx="11245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Web</a:t>
            </a:r>
            <a:endParaRPr lang="en-US" sz="1575" dirty="0"/>
          </a:p>
        </p:txBody>
      </p:sp>
      <p:sp>
        <p:nvSpPr>
          <p:cNvPr id="19" name="Text 14"/>
          <p:cNvSpPr/>
          <p:nvPr/>
        </p:nvSpPr>
        <p:spPr>
          <a:xfrm>
            <a:off x="7203877" y="8403134"/>
            <a:ext cx="10751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3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Banca en línea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229725" y="7069634"/>
            <a:ext cx="2633663" cy="1781175"/>
          </a:xfrm>
          <a:prstGeom prst="roundRect">
            <a:avLst>
              <a:gd name="adj" fmla="val 1069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270331" y="7326809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3681" y="7460159"/>
            <a:ext cx="285750" cy="2857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10861" y="8012609"/>
            <a:ext cx="20712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&amp; Surveys</a:t>
            </a:r>
            <a:endParaRPr lang="en-US" sz="1575" dirty="0"/>
          </a:p>
        </p:txBody>
      </p:sp>
      <p:sp>
        <p:nvSpPr>
          <p:cNvPr id="24" name="Text 18"/>
          <p:cNvSpPr/>
          <p:nvPr/>
        </p:nvSpPr>
        <p:spPr>
          <a:xfrm>
            <a:off x="9849743" y="8403134"/>
            <a:ext cx="13934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3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 · In-App · NPS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2034838" y="7069634"/>
            <a:ext cx="2633663" cy="1781175"/>
          </a:xfrm>
          <a:prstGeom prst="roundRect">
            <a:avLst>
              <a:gd name="adj" fmla="val 10695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3075444" y="7326809"/>
            <a:ext cx="552450" cy="552450"/>
          </a:xfrm>
          <a:prstGeom prst="roundRect">
            <a:avLst>
              <a:gd name="adj" fmla="val 25862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8794" y="7460159"/>
            <a:ext cx="285750" cy="2857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716173" y="8012609"/>
            <a:ext cx="1270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Push</a:t>
            </a:r>
            <a:endParaRPr lang="en-US" sz="1575" dirty="0"/>
          </a:p>
        </p:txBody>
      </p:sp>
      <p:sp>
        <p:nvSpPr>
          <p:cNvPr id="29" name="Text 22"/>
          <p:cNvSpPr/>
          <p:nvPr/>
        </p:nvSpPr>
        <p:spPr>
          <a:xfrm>
            <a:off x="12405271" y="8403134"/>
            <a:ext cx="18926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3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Notificaciones · Campañas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2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42950"/>
            <a:ext cx="1735485" cy="323850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9675" y="819150"/>
            <a:ext cx="14878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 PLATAFORMA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137350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50" b="1" spc="-9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plataforma de </a:t>
            </a:r>
            <a:pPr algn="l" indent="0" marL="0">
              <a:lnSpc>
                <a:spcPct val="108000"/>
              </a:lnSpc>
              <a:buNone/>
            </a:pPr>
            <a:r>
              <a:rPr lang="en-US" sz="3750" b="1" spc="-90" kern="0" dirty="0">
                <a:solidFill>
                  <a:srgbClr val="6AA6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analytics </a:t>
            </a:r>
            <a:pPr algn="l" indent="0" marL="0">
              <a:lnSpc>
                <a:spcPct val="108000"/>
              </a:lnSpc>
              <a:buNone/>
            </a:pPr>
            <a:r>
              <a:rPr lang="en-US" sz="3750" b="1" spc="-9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end-to-end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047750" y="1943100"/>
            <a:ext cx="10595610" cy="717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Cuatro capacidades integradas para entender, optimizar y experimentar con el comportamiento digital de tus clientes.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047750" y="2945904"/>
            <a:ext cx="8001000" cy="3203823"/>
          </a:xfrm>
          <a:prstGeom prst="roundRect">
            <a:avLst>
              <a:gd name="adj" fmla="val 65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1125" y="3241179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3365004"/>
            <a:ext cx="266700" cy="2667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47875" y="3250704"/>
            <a:ext cx="23299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047875" y="3574554"/>
            <a:ext cx="232990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spc="75" kern="0" dirty="0">
                <a:solidFill>
                  <a:srgbClr val="7A8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COMPORTAMIENTO DE USUARIOS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1381125" y="3888879"/>
            <a:ext cx="755427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A6B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Funnels, retención, cohortes y journeys. Responde preguntas complejas de producto en minutos — sin SQL, sin esperar al equipo de datos.</a:t>
            </a:r>
            <a:endParaRPr lang="en-US" sz="1575" dirty="0"/>
          </a:p>
        </p:txBody>
      </p:sp>
      <p:sp>
        <p:nvSpPr>
          <p:cNvPr id="13" name="Shape 10"/>
          <p:cNvSpPr/>
          <p:nvPr/>
        </p:nvSpPr>
        <p:spPr>
          <a:xfrm>
            <a:off x="1381125" y="5549652"/>
            <a:ext cx="826889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14475" y="5616327"/>
            <a:ext cx="6363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Funnels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284214" y="5549652"/>
            <a:ext cx="986879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17564" y="5616327"/>
            <a:ext cx="7963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Retención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347293" y="5549652"/>
            <a:ext cx="826889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80643" y="5616327"/>
            <a:ext cx="6363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Cohorts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50382" y="5549652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3732" y="5616327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Journeys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239250" y="2945904"/>
            <a:ext cx="8001000" cy="3203823"/>
          </a:xfrm>
          <a:prstGeom prst="roundRect">
            <a:avLst>
              <a:gd name="adj" fmla="val 65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72625" y="3241179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3365004"/>
            <a:ext cx="266700" cy="2667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239375" y="3250704"/>
            <a:ext cx="18965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Experiment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0239375" y="3574554"/>
            <a:ext cx="18965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spc="75" kern="0" dirty="0">
                <a:solidFill>
                  <a:srgbClr val="7A8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A/B TESTING CON RIGOR</a:t>
            </a:r>
            <a:endParaRPr lang="en-US" sz="1013" dirty="0"/>
          </a:p>
        </p:txBody>
      </p:sp>
      <p:sp>
        <p:nvSpPr>
          <p:cNvPr id="26" name="Text 22"/>
          <p:cNvSpPr/>
          <p:nvPr/>
        </p:nvSpPr>
        <p:spPr>
          <a:xfrm>
            <a:off x="9572625" y="3888879"/>
            <a:ext cx="755427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A6B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Lanza feature flags y experimentos con significancia estadística real. Valida cada cambio antes del rollout al 100% de tus clientes.</a:t>
            </a:r>
            <a:endParaRPr lang="en-US" sz="1575" dirty="0"/>
          </a:p>
        </p:txBody>
      </p:sp>
      <p:sp>
        <p:nvSpPr>
          <p:cNvPr id="27" name="Shape 23"/>
          <p:cNvSpPr/>
          <p:nvPr/>
        </p:nvSpPr>
        <p:spPr>
          <a:xfrm>
            <a:off x="9572625" y="5549652"/>
            <a:ext cx="130686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705975" y="5616327"/>
            <a:ext cx="11163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Feature Flags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10955685" y="5549652"/>
            <a:ext cx="114687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089035" y="5616327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A/B Testing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12178754" y="5549652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2312104" y="5616327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Rollouts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1047750" y="6340227"/>
            <a:ext cx="8001000" cy="3203823"/>
          </a:xfrm>
          <a:prstGeom prst="roundRect">
            <a:avLst>
              <a:gd name="adj" fmla="val 65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381125" y="6635502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6759327"/>
            <a:ext cx="266700" cy="2667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2047875" y="6645027"/>
            <a:ext cx="21565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Session Replay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2047875" y="6968877"/>
            <a:ext cx="21565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spc="75" kern="0" dirty="0">
                <a:solidFill>
                  <a:srgbClr val="7A8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GRABACIONES CON CONTEXTO</a:t>
            </a:r>
            <a:endParaRPr lang="en-US" sz="1013" dirty="0"/>
          </a:p>
        </p:txBody>
      </p:sp>
      <p:sp>
        <p:nvSpPr>
          <p:cNvPr id="38" name="Text 33"/>
          <p:cNvSpPr/>
          <p:nvPr/>
        </p:nvSpPr>
        <p:spPr>
          <a:xfrm>
            <a:off x="1381125" y="7283202"/>
            <a:ext cx="755427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A6B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 exactamente qué hizo un cliente antes de abandonar una transferencia o el onboarding. Cada replay enlazado a su funnel y cohorte.</a:t>
            </a:r>
            <a:endParaRPr lang="en-US" sz="1575" dirty="0"/>
          </a:p>
        </p:txBody>
      </p:sp>
      <p:sp>
        <p:nvSpPr>
          <p:cNvPr id="39" name="Shape 34"/>
          <p:cNvSpPr/>
          <p:nvPr/>
        </p:nvSpPr>
        <p:spPr>
          <a:xfrm>
            <a:off x="1381125" y="8943975"/>
            <a:ext cx="986879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514475" y="9010650"/>
            <a:ext cx="7963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Grabación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2444204" y="8943975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577554" y="9010650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Heatmaps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3427214" y="8943975"/>
            <a:ext cx="114687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3560564" y="9010650"/>
            <a:ext cx="9563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Rage clicks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9239250" y="6340227"/>
            <a:ext cx="8001000" cy="3203823"/>
          </a:xfrm>
          <a:prstGeom prst="roundRect">
            <a:avLst>
              <a:gd name="adj" fmla="val 654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572625" y="6635502"/>
            <a:ext cx="514350" cy="514350"/>
          </a:xfrm>
          <a:prstGeom prst="roundRect">
            <a:avLst>
              <a:gd name="adj" fmla="val 25926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450" y="6759327"/>
            <a:ext cx="266700" cy="2667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0239375" y="6645027"/>
            <a:ext cx="19831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Audiences</a:t>
            </a:r>
            <a:endParaRPr lang="en-US" sz="1800" dirty="0"/>
          </a:p>
        </p:txBody>
      </p:sp>
      <p:sp>
        <p:nvSpPr>
          <p:cNvPr id="49" name="Text 43"/>
          <p:cNvSpPr/>
          <p:nvPr/>
        </p:nvSpPr>
        <p:spPr>
          <a:xfrm>
            <a:off x="10239375" y="6968877"/>
            <a:ext cx="19831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spc="75" kern="0" dirty="0">
                <a:solidFill>
                  <a:srgbClr val="7A8D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AUDIENCIAS ACCIONABLES</a:t>
            </a:r>
            <a:endParaRPr lang="en-US" sz="1013" dirty="0"/>
          </a:p>
        </p:txBody>
      </p:sp>
      <p:sp>
        <p:nvSpPr>
          <p:cNvPr id="50" name="Text 44"/>
          <p:cNvSpPr/>
          <p:nvPr/>
        </p:nvSpPr>
        <p:spPr>
          <a:xfrm>
            <a:off x="9572625" y="7283202"/>
            <a:ext cx="755427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75" dirty="0">
                <a:solidFill>
                  <a:srgbClr val="A6B6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Construye segmentos basados en comportamiento real y sincronízalos en tiempo real a tu CRM o marketing. Del insight a la campaña sin fricción.</a:t>
            </a:r>
            <a:endParaRPr lang="en-US" sz="1575" dirty="0"/>
          </a:p>
        </p:txBody>
      </p:sp>
      <p:sp>
        <p:nvSpPr>
          <p:cNvPr id="51" name="Shape 45"/>
          <p:cNvSpPr/>
          <p:nvPr/>
        </p:nvSpPr>
        <p:spPr>
          <a:xfrm>
            <a:off x="9572625" y="8943975"/>
            <a:ext cx="986879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9705975" y="9010650"/>
            <a:ext cx="7963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Segmentos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10635704" y="8943975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10769054" y="9010650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Sync CRM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11618714" y="8943975"/>
            <a:ext cx="1546920" cy="3048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11752064" y="9010650"/>
            <a:ext cx="13564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CCCE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Predicción churn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42950"/>
            <a:ext cx="2821335" cy="323850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9675" y="819150"/>
            <a:ext cx="25821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IDENTIDAD CROSS-CHANNEL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7750" y="1276350"/>
            <a:ext cx="804481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b="1" spc="-10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cliente. </a:t>
            </a:r>
            <a:pPr algn="l" indent="0" marL="0">
              <a:lnSpc>
                <a:spcPct val="105000"/>
              </a:lnSpc>
              <a:buNone/>
            </a:pPr>
            <a:r>
              <a:rPr lang="en-US" sz="3900" b="1" spc="-105" kern="0" dirty="0">
                <a:solidFill>
                  <a:srgbClr val="6AA6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sola historia.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47750" y="2487811"/>
            <a:ext cx="8044815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Amplitude construye un perfil unificado cuando el mismo usuario toca múltiples canales — incluso antes de autenticarse.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3384947"/>
            <a:ext cx="78105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661172"/>
            <a:ext cx="247650" cy="247650"/>
          </a:xfrm>
          <a:prstGeom prst="ellipse">
            <a:avLst/>
          </a:prstGeom>
          <a:solidFill>
            <a:srgbClr val="215AA8">
              <a:alpha val="20000"/>
            </a:srgbClr>
          </a:solidFill>
          <a:ln w="9525">
            <a:solidFill>
              <a:srgbClr val="6AA6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00" y="3718322"/>
            <a:ext cx="133350" cy="133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275" y="3642122"/>
            <a:ext cx="76425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 Graph: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3C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conecta el anonymous ID de la web con el user ID de la app tras el login.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47750" y="4404122"/>
            <a:ext cx="247650" cy="247650"/>
          </a:xfrm>
          <a:prstGeom prst="ellipse">
            <a:avLst/>
          </a:prstGeom>
          <a:solidFill>
            <a:srgbClr val="215AA8">
              <a:alpha val="20000"/>
            </a:srgbClr>
          </a:solidFill>
          <a:ln w="9525">
            <a:solidFill>
              <a:srgbClr val="6AA6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4461272"/>
            <a:ext cx="133350" cy="133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38275" y="4385072"/>
            <a:ext cx="70139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 Merging: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3C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fusiona automáticamente la visita web con el onboarding en la app.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047750" y="4861322"/>
            <a:ext cx="247650" cy="247650"/>
          </a:xfrm>
          <a:prstGeom prst="ellipse">
            <a:avLst/>
          </a:prstGeom>
          <a:solidFill>
            <a:srgbClr val="215AA8">
              <a:alpha val="20000"/>
            </a:srgbClr>
          </a:solidFill>
          <a:ln w="9525">
            <a:solidFill>
              <a:srgbClr val="6AA6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4918472"/>
            <a:ext cx="133350" cy="133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38275" y="4842272"/>
            <a:ext cx="76425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Funnels cross-canal: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3C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"vio el banner en web → descargó la app → primera transferencia", en un solo funnel medible.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1047750" y="5604272"/>
            <a:ext cx="247650" cy="247650"/>
          </a:xfrm>
          <a:prstGeom prst="ellipse">
            <a:avLst/>
          </a:prstGeom>
          <a:solidFill>
            <a:srgbClr val="215AA8">
              <a:alpha val="20000"/>
            </a:srgbClr>
          </a:solidFill>
          <a:ln w="9525">
            <a:solidFill>
              <a:srgbClr val="6AA6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5661422"/>
            <a:ext cx="133350" cy="133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38275" y="5585222"/>
            <a:ext cx="764257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masking nativo: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3CF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sensibles enmascarados en origen — cumplimiento de serie.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429750" y="742950"/>
            <a:ext cx="80448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JOURNEY REAL DE UN CLIENTE BANCARIO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429750" y="1066800"/>
            <a:ext cx="7810500" cy="828675"/>
          </a:xfrm>
          <a:prstGeom prst="roundRect">
            <a:avLst>
              <a:gd name="adj" fmla="val 1839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629775" y="1262063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550" y="1366838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220325" y="1247775"/>
            <a:ext cx="70244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7FB0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Landing Web — Lunes 9:12 am</a:t>
            </a:r>
            <a:endParaRPr lang="en-US" sz="1425" dirty="0"/>
          </a:p>
        </p:txBody>
      </p:sp>
      <p:sp>
        <p:nvSpPr>
          <p:cNvPr id="25" name="Text 18"/>
          <p:cNvSpPr/>
          <p:nvPr/>
        </p:nvSpPr>
        <p:spPr>
          <a:xfrm>
            <a:off x="10220325" y="1504950"/>
            <a:ext cx="70244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4A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Busca "abrir cuenta" → entra a la landing → ve el CTA</a:t>
            </a:r>
            <a:endParaRPr lang="en-US" sz="1275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0" y="2028825"/>
            <a:ext cx="190500" cy="1905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9429750" y="2352675"/>
            <a:ext cx="7810500" cy="828675"/>
          </a:xfrm>
          <a:prstGeom prst="roundRect">
            <a:avLst>
              <a:gd name="adj" fmla="val 1839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9629775" y="2547938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4550" y="2652713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20325" y="2533650"/>
            <a:ext cx="70244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7FB0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— Lunes 9:31 am</a:t>
            </a:r>
            <a:endParaRPr lang="en-US" sz="1425" dirty="0"/>
          </a:p>
        </p:txBody>
      </p:sp>
      <p:sp>
        <p:nvSpPr>
          <p:cNvPr id="31" name="Text 22"/>
          <p:cNvSpPr/>
          <p:nvPr/>
        </p:nvSpPr>
        <p:spPr>
          <a:xfrm>
            <a:off x="10220325" y="2790825"/>
            <a:ext cx="70244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4A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Descarga la app → inicia registro → KYC completado</a:t>
            </a:r>
            <a:endParaRPr lang="en-US" sz="1275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0" y="3314700"/>
            <a:ext cx="190500" cy="19050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429750" y="3638550"/>
            <a:ext cx="7810500" cy="828675"/>
          </a:xfrm>
          <a:prstGeom prst="roundRect">
            <a:avLst>
              <a:gd name="adj" fmla="val 18391"/>
            </a:avLst>
          </a:prstGeom>
          <a:solidFill>
            <a:srgbClr val="F4D34C">
              <a:alpha val="6000"/>
            </a:srgbClr>
          </a:solidFill>
          <a:ln w="9525">
            <a:solidFill>
              <a:srgbClr val="F4D34C">
                <a:alpha val="30000"/>
              </a:srgbClr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9629775" y="3833812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4D34C">
              <a:alpha val="14000"/>
            </a:srgbClr>
          </a:solidFill>
          <a:ln w="9525">
            <a:solidFill>
              <a:srgbClr val="F4D34C">
                <a:alpha val="34000"/>
              </a:srgbClr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4550" y="3938588"/>
            <a:ext cx="228600" cy="22860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220325" y="3819525"/>
            <a:ext cx="70244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4D3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— Martes 8:04 pm</a:t>
            </a:r>
            <a:endParaRPr lang="en-US" sz="1425" dirty="0"/>
          </a:p>
        </p:txBody>
      </p:sp>
      <p:sp>
        <p:nvSpPr>
          <p:cNvPr id="37" name="Text 26"/>
          <p:cNvSpPr/>
          <p:nvPr/>
        </p:nvSpPr>
        <p:spPr>
          <a:xfrm>
            <a:off x="10220325" y="4076700"/>
            <a:ext cx="70244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94A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Primer depósito → primera transferencia → activo en D7</a:t>
            </a:r>
            <a:endParaRPr lang="en-US" sz="1275" dirty="0"/>
          </a:p>
        </p:txBody>
      </p:sp>
      <p:sp>
        <p:nvSpPr>
          <p:cNvPr id="38" name="Shape 27"/>
          <p:cNvSpPr/>
          <p:nvPr/>
        </p:nvSpPr>
        <p:spPr>
          <a:xfrm>
            <a:off x="9429750" y="4619625"/>
            <a:ext cx="7810500" cy="881063"/>
          </a:xfrm>
          <a:prstGeom prst="roundRect">
            <a:avLst>
              <a:gd name="adj" fmla="val 17297"/>
            </a:avLst>
          </a:prstGeom>
          <a:solidFill>
            <a:srgbClr val="215AA8">
              <a:alpha val="10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9648825" y="4800600"/>
            <a:ext cx="759352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CFDC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Amplitude conecta los tres momentos en un solo funnel.</a:t>
            </a:r>
            <a:endParaRPr lang="en-US" sz="1425" dirty="0"/>
          </a:p>
        </p:txBody>
      </p:sp>
      <p:sp>
        <p:nvSpPr>
          <p:cNvPr id="40" name="Text 29"/>
          <p:cNvSpPr/>
          <p:nvPr/>
        </p:nvSpPr>
        <p:spPr>
          <a:xfrm>
            <a:off x="9648825" y="5076825"/>
            <a:ext cx="759352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4A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Qué landing convirtió, en qué paso hubo fricción y cuántos activaron en los primeros 7 días.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04850"/>
            <a:ext cx="3364260" cy="323850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9675" y="781050"/>
            <a:ext cx="314133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CASOS DE USO — BANCA DIGITAL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7750" y="1219200"/>
            <a:ext cx="16678275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ahora puedes responder </a:t>
            </a:r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6AA6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minutos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47750" y="1965871"/>
            <a:ext cx="5283101" cy="3722340"/>
          </a:xfrm>
          <a:prstGeom prst="roundRect">
            <a:avLst>
              <a:gd name="adj" fmla="val 5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4925" y="2203996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463" y="2313533"/>
            <a:ext cx="238125" cy="2381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54488" y="2308771"/>
            <a:ext cx="1119188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68788" y="2356396"/>
            <a:ext cx="9667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ADQUISICIÓN</a:t>
            </a:r>
            <a:endParaRPr lang="en-US" sz="938" dirty="0"/>
          </a:p>
        </p:txBody>
      </p:sp>
      <p:sp>
        <p:nvSpPr>
          <p:cNvPr id="11" name="Text 8"/>
          <p:cNvSpPr/>
          <p:nvPr/>
        </p:nvSpPr>
        <p:spPr>
          <a:xfrm>
            <a:off x="1304925" y="2794546"/>
            <a:ext cx="491181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¿Dónde pierdo clientes en el onboarding?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304925" y="3120182"/>
            <a:ext cx="4911813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Funnel completo: registro → identidad → KYC → primer depósito. Identifica el paso exacto de abandono, con Session Replay incluido.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02301" y="1965871"/>
            <a:ext cx="5283250" cy="3722340"/>
          </a:xfrm>
          <a:prstGeom prst="roundRect">
            <a:avLst>
              <a:gd name="adj" fmla="val 5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59476" y="2203996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013" y="2313533"/>
            <a:ext cx="238125" cy="2381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490150" y="2308771"/>
            <a:ext cx="1038225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604450" y="2356396"/>
            <a:ext cx="8858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ACTIVACIÓN</a:t>
            </a:r>
            <a:endParaRPr lang="en-US" sz="938" dirty="0"/>
          </a:p>
        </p:txBody>
      </p:sp>
      <p:sp>
        <p:nvSpPr>
          <p:cNvPr id="18" name="Text 14"/>
          <p:cNvSpPr/>
          <p:nvPr/>
        </p:nvSpPr>
        <p:spPr>
          <a:xfrm>
            <a:off x="6759476" y="2794546"/>
            <a:ext cx="491196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¿Quiénes abren cuenta pero no transaccionan?</a:t>
            </a:r>
            <a:endParaRPr lang="en-US" sz="1575" dirty="0"/>
          </a:p>
        </p:txBody>
      </p:sp>
      <p:sp>
        <p:nvSpPr>
          <p:cNvPr id="19" name="Text 15"/>
          <p:cNvSpPr/>
          <p:nvPr/>
        </p:nvSpPr>
        <p:spPr>
          <a:xfrm>
            <a:off x="6759476" y="3120182"/>
            <a:ext cx="4911967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Cohorte de usuarios que completaron onboarding pero no transaccionaron en 7 días. Exporta a tu CRM para activación automática.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11957000" y="1965871"/>
            <a:ext cx="5283250" cy="3722340"/>
          </a:xfrm>
          <a:prstGeom prst="roundRect">
            <a:avLst>
              <a:gd name="adj" fmla="val 5118"/>
            </a:avLst>
          </a:prstGeom>
          <a:solidFill>
            <a:srgbClr val="F4D34C">
              <a:alpha val="5000"/>
            </a:srgbClr>
          </a:solidFill>
          <a:ln w="9525">
            <a:solidFill>
              <a:srgbClr val="F4D34C">
                <a:alpha val="26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2214175" y="2203996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F4D34C">
              <a:alpha val="14000"/>
            </a:srgbClr>
          </a:solidFill>
          <a:ln w="9525">
            <a:solidFill>
              <a:srgbClr val="F4D34C">
                <a:alpha val="3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713" y="2313533"/>
            <a:ext cx="238125" cy="23812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6025813" y="2308771"/>
            <a:ext cx="957263" cy="247650"/>
          </a:xfrm>
          <a:prstGeom prst="roundRect">
            <a:avLst>
              <a:gd name="adj" fmla="val 50000"/>
            </a:avLst>
          </a:prstGeom>
          <a:solidFill>
            <a:srgbClr val="F4D34C">
              <a:alpha val="10000"/>
            </a:srgbClr>
          </a:solidFill>
          <a:ln w="9525">
            <a:solidFill>
              <a:srgbClr val="F4D34C">
                <a:alpha val="26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6140113" y="2356396"/>
            <a:ext cx="8048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D8B7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RETENCIÓN</a:t>
            </a:r>
            <a:endParaRPr lang="en-US" sz="938" dirty="0"/>
          </a:p>
        </p:txBody>
      </p:sp>
      <p:sp>
        <p:nvSpPr>
          <p:cNvPr id="25" name="Text 20"/>
          <p:cNvSpPr/>
          <p:nvPr/>
        </p:nvSpPr>
        <p:spPr>
          <a:xfrm>
            <a:off x="12214175" y="2794546"/>
            <a:ext cx="491196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¿Cuándo están en riesgo de churn?</a:t>
            </a:r>
            <a:endParaRPr lang="en-US" sz="1575" dirty="0"/>
          </a:p>
        </p:txBody>
      </p:sp>
      <p:sp>
        <p:nvSpPr>
          <p:cNvPr id="26" name="Text 21"/>
          <p:cNvSpPr/>
          <p:nvPr/>
        </p:nvSpPr>
        <p:spPr>
          <a:xfrm>
            <a:off x="12214175" y="3120182"/>
            <a:ext cx="4911967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Detecta clientes que redujeron su actividad frente a su histórico. Activa retención proactiva antes de que cierren la cuenta.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1047750" y="5859661"/>
            <a:ext cx="5283101" cy="3722489"/>
          </a:xfrm>
          <a:prstGeom prst="roundRect">
            <a:avLst>
              <a:gd name="adj" fmla="val 5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304925" y="6097786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3" y="6207323"/>
            <a:ext cx="238125" cy="23812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792563" y="6202561"/>
            <a:ext cx="1281113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906863" y="6250186"/>
            <a:ext cx="11287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CROSS-SELLING</a:t>
            </a:r>
            <a:endParaRPr lang="en-US" sz="938" dirty="0"/>
          </a:p>
        </p:txBody>
      </p:sp>
      <p:sp>
        <p:nvSpPr>
          <p:cNvPr id="32" name="Text 26"/>
          <p:cNvSpPr/>
          <p:nvPr/>
        </p:nvSpPr>
        <p:spPr>
          <a:xfrm>
            <a:off x="1304925" y="6688336"/>
            <a:ext cx="4911813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¿A quiénes ofrecerles tarjeta de crédito?</a:t>
            </a:r>
            <a:endParaRPr lang="en-US" sz="1575" dirty="0"/>
          </a:p>
        </p:txBody>
      </p:sp>
      <p:sp>
        <p:nvSpPr>
          <p:cNvPr id="33" name="Text 27"/>
          <p:cNvSpPr/>
          <p:nvPr/>
        </p:nvSpPr>
        <p:spPr>
          <a:xfrm>
            <a:off x="1304925" y="7013972"/>
            <a:ext cx="4911813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Cohorte por comportamiento real: actividad recurrente y saldo promedio, que nunca vieron la sección de tarjetas. Audiencia ideal para la oferta.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6502301" y="5859661"/>
            <a:ext cx="5283250" cy="3722489"/>
          </a:xfrm>
          <a:prstGeom prst="roundRect">
            <a:avLst>
              <a:gd name="adj" fmla="val 5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759476" y="6097786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013" y="6207323"/>
            <a:ext cx="238125" cy="23812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10652075" y="6202561"/>
            <a:ext cx="876300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766375" y="6250186"/>
            <a:ext cx="723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FRICCIÓN</a:t>
            </a:r>
            <a:endParaRPr lang="en-US" sz="938" dirty="0"/>
          </a:p>
        </p:txBody>
      </p:sp>
      <p:sp>
        <p:nvSpPr>
          <p:cNvPr id="39" name="Text 32"/>
          <p:cNvSpPr/>
          <p:nvPr/>
        </p:nvSpPr>
        <p:spPr>
          <a:xfrm>
            <a:off x="6759476" y="6688336"/>
            <a:ext cx="491196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¿Por qué se abandona una transferencia?</a:t>
            </a:r>
            <a:endParaRPr lang="en-US" sz="1575" dirty="0"/>
          </a:p>
        </p:txBody>
      </p:sp>
      <p:sp>
        <p:nvSpPr>
          <p:cNvPr id="40" name="Text 33"/>
          <p:cNvSpPr/>
          <p:nvPr/>
        </p:nvSpPr>
        <p:spPr>
          <a:xfrm>
            <a:off x="6759476" y="7013972"/>
            <a:ext cx="4911967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Session Replay observas en qué campo hay confusión. El insight en minutos — no en semanas con un reporte del equipo de data.</a:t>
            </a:r>
            <a:endParaRPr lang="en-US" sz="1350" dirty="0"/>
          </a:p>
        </p:txBody>
      </p:sp>
      <p:sp>
        <p:nvSpPr>
          <p:cNvPr id="41" name="Shape 34"/>
          <p:cNvSpPr/>
          <p:nvPr/>
        </p:nvSpPr>
        <p:spPr>
          <a:xfrm>
            <a:off x="11957000" y="5859661"/>
            <a:ext cx="5283250" cy="3722489"/>
          </a:xfrm>
          <a:prstGeom prst="roundRect">
            <a:avLst>
              <a:gd name="adj" fmla="val 511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2214175" y="6097786"/>
            <a:ext cx="457200" cy="457200"/>
          </a:xfrm>
          <a:prstGeom prst="roundRect">
            <a:avLst>
              <a:gd name="adj" fmla="val 27083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3713" y="6207323"/>
            <a:ext cx="238125" cy="238125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15863887" y="6202561"/>
            <a:ext cx="1119188" cy="24765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15978187" y="6250186"/>
            <a:ext cx="96678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spc="75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EXPERIMENTO</a:t>
            </a:r>
            <a:endParaRPr lang="en-US" sz="938" dirty="0"/>
          </a:p>
        </p:txBody>
      </p:sp>
      <p:sp>
        <p:nvSpPr>
          <p:cNvPr id="46" name="Text 38"/>
          <p:cNvSpPr/>
          <p:nvPr/>
        </p:nvSpPr>
        <p:spPr>
          <a:xfrm>
            <a:off x="12214175" y="6688336"/>
            <a:ext cx="4911967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¿El nuevo login mejora la retención?</a:t>
            </a:r>
            <a:endParaRPr lang="en-US" sz="1575" dirty="0"/>
          </a:p>
        </p:txBody>
      </p:sp>
      <p:sp>
        <p:nvSpPr>
          <p:cNvPr id="47" name="Text 39"/>
          <p:cNvSpPr/>
          <p:nvPr/>
        </p:nvSpPr>
        <p:spPr>
          <a:xfrm>
            <a:off x="12214175" y="7013972"/>
            <a:ext cx="4911967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A/B test con rigor estadístico. Sin adivinar: validas la variante con datos y significancia antes del rollout al 100%.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04850"/>
            <a:ext cx="3038475" cy="323850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9675" y="781050"/>
            <a:ext cx="28057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CUMPLIMIENTO &amp; PRIVACIDAD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7750" y="1219200"/>
            <a:ext cx="8054626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750" b="1" spc="-10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Construido para la </a:t>
            </a:r>
            <a:pPr algn="l" indent="0" marL="0">
              <a:lnSpc>
                <a:spcPct val="105000"/>
              </a:lnSpc>
              <a:buNone/>
            </a:pPr>
            <a:r>
              <a:rPr lang="en-US" sz="3750" b="1" spc="-105" kern="0" dirty="0">
                <a:solidFill>
                  <a:srgbClr val="6AA6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industria regulada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047750" y="2371725"/>
            <a:ext cx="8054626" cy="348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75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Diseñado con regulaciones financieras y de privacidad en mente desde el origen.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1047750" y="2910334"/>
            <a:ext cx="7820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7FB0EF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7775" y="3105596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550" y="3210371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38325" y="3091309"/>
            <a:ext cx="35231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SOC 2 Type II + ISO 27001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38325" y="3348484"/>
            <a:ext cx="352313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8EA1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Certificaciones enterprise auditadas anualmente</a:t>
            </a:r>
            <a:endParaRPr lang="en-US" sz="1238" dirty="0"/>
          </a:p>
        </p:txBody>
      </p:sp>
      <p:sp>
        <p:nvSpPr>
          <p:cNvPr id="12" name="Shape 9"/>
          <p:cNvSpPr/>
          <p:nvPr/>
        </p:nvSpPr>
        <p:spPr>
          <a:xfrm>
            <a:off x="1047750" y="3872359"/>
            <a:ext cx="7820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7FB0EF">
                <a:alpha val="1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47775" y="4067621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4172396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38325" y="4053334"/>
            <a:ext cx="36457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GDPR + CCPA compliant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838325" y="4310509"/>
            <a:ext cx="364576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8EA1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Conforme con regulaciones globales de privacidad</a:t>
            </a:r>
            <a:endParaRPr lang="en-US" sz="1238" dirty="0"/>
          </a:p>
        </p:txBody>
      </p:sp>
      <p:sp>
        <p:nvSpPr>
          <p:cNvPr id="17" name="Shape 13"/>
          <p:cNvSpPr/>
          <p:nvPr/>
        </p:nvSpPr>
        <p:spPr>
          <a:xfrm>
            <a:off x="1047750" y="4834384"/>
            <a:ext cx="7820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7FB0EF">
                <a:alpha val="1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247775" y="5029646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5134421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38325" y="5015359"/>
            <a:ext cx="45914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Masking automático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838325" y="5272534"/>
            <a:ext cx="459143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8EA1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Datos sensibles enmascarados en origen antes de almacenarse</a:t>
            </a:r>
            <a:endParaRPr lang="en-US" sz="1238" dirty="0"/>
          </a:p>
        </p:txBody>
      </p:sp>
      <p:sp>
        <p:nvSpPr>
          <p:cNvPr id="22" name="Shape 17"/>
          <p:cNvSpPr/>
          <p:nvPr/>
        </p:nvSpPr>
        <p:spPr>
          <a:xfrm>
            <a:off x="1047750" y="5796409"/>
            <a:ext cx="7820025" cy="828675"/>
          </a:xfrm>
          <a:prstGeom prst="roundRect">
            <a:avLst>
              <a:gd name="adj" fmla="val 1609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7FB0EF">
                <a:alpha val="18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247775" y="5991671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6096446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38325" y="5977384"/>
            <a:ext cx="34880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residency configurable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838325" y="6234559"/>
            <a:ext cx="34880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dirty="0">
                <a:solidFill>
                  <a:srgbClr val="8EA1C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Almacena en la región que requiera tu regulador</a:t>
            </a:r>
            <a:endParaRPr lang="en-US" sz="1238" dirty="0"/>
          </a:p>
        </p:txBody>
      </p:sp>
      <p:sp>
        <p:nvSpPr>
          <p:cNvPr id="27" name="Text 21"/>
          <p:cNvSpPr/>
          <p:nvPr/>
        </p:nvSpPr>
        <p:spPr>
          <a:xfrm>
            <a:off x="9420225" y="704850"/>
            <a:ext cx="80546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FLUJO DE DATOS BANCARIOS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420225" y="1028700"/>
            <a:ext cx="7820025" cy="4124325"/>
          </a:xfrm>
          <a:prstGeom prst="roundRect">
            <a:avLst>
              <a:gd name="adj" fmla="val 4619"/>
            </a:avLst>
          </a:prstGeom>
          <a:solidFill>
            <a:srgbClr val="000000">
              <a:alpha val="32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677400" y="1285875"/>
            <a:ext cx="7305675" cy="1076325"/>
          </a:xfrm>
          <a:prstGeom prst="roundRect">
            <a:avLst>
              <a:gd name="adj" fmla="val 10619"/>
            </a:avLst>
          </a:prstGeom>
          <a:solidFill>
            <a:srgbClr val="215AA8">
              <a:alpha val="8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858375" y="1466850"/>
            <a:ext cx="71520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FB0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 Evento generado en el dispositivo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858375" y="1752600"/>
            <a:ext cx="715203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9FB2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event: "transfer_started", amount: [MASKED], userId: "usr_hash" }</a:t>
            </a:r>
            <a:endParaRPr lang="en-US" sz="1125" dirty="0"/>
          </a:p>
        </p:txBody>
      </p:sp>
      <p:sp>
        <p:nvSpPr>
          <p:cNvPr id="32" name="Text 26"/>
          <p:cNvSpPr/>
          <p:nvPr/>
        </p:nvSpPr>
        <p:spPr>
          <a:xfrm>
            <a:off x="9567815" y="2495550"/>
            <a:ext cx="75248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A7C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 SDK aplica masking local</a:t>
            </a:r>
            <a:endParaRPr lang="en-US" sz="1125" dirty="0"/>
          </a:p>
        </p:txBody>
      </p:sp>
      <p:sp>
        <p:nvSpPr>
          <p:cNvPr id="33" name="Shape 27"/>
          <p:cNvSpPr/>
          <p:nvPr/>
        </p:nvSpPr>
        <p:spPr>
          <a:xfrm>
            <a:off x="9677400" y="2809875"/>
            <a:ext cx="7305675" cy="819150"/>
          </a:xfrm>
          <a:prstGeom prst="roundRect">
            <a:avLst>
              <a:gd name="adj" fmla="val 13953"/>
            </a:avLst>
          </a:prstGeom>
          <a:solidFill>
            <a:srgbClr val="215AA8">
              <a:alpha val="6000"/>
            </a:srgbClr>
          </a:solidFill>
          <a:ln w="9525">
            <a:solidFill>
              <a:srgbClr val="7FB0EF">
                <a:alpha val="18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858375" y="2990850"/>
            <a:ext cx="71520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FDC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② Transmitido con HTTPS / TLS 1.3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9858375" y="3257550"/>
            <a:ext cx="71520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Encriptado end-to-end. Nunca en texto plano.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567815" y="3762375"/>
            <a:ext cx="752484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A7C9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↓ Almacenamiento en región configurada</a:t>
            </a:r>
            <a:endParaRPr lang="en-US" sz="1125" dirty="0"/>
          </a:p>
        </p:txBody>
      </p:sp>
      <p:sp>
        <p:nvSpPr>
          <p:cNvPr id="37" name="Shape 31"/>
          <p:cNvSpPr/>
          <p:nvPr/>
        </p:nvSpPr>
        <p:spPr>
          <a:xfrm>
            <a:off x="9677400" y="4076700"/>
            <a:ext cx="7305675" cy="819150"/>
          </a:xfrm>
          <a:prstGeom prst="roundRect">
            <a:avLst>
              <a:gd name="adj" fmla="val 13953"/>
            </a:avLst>
          </a:prstGeom>
          <a:solidFill>
            <a:srgbClr val="F4D34C">
              <a:alpha val="6000"/>
            </a:srgbClr>
          </a:solidFill>
          <a:ln w="9525">
            <a:solidFill>
              <a:srgbClr val="F4D34C">
                <a:alpha val="2600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858375" y="4257675"/>
            <a:ext cx="71520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D3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③ Tu equipo accede a insights, no a datos raw</a:t>
            </a:r>
            <a:endParaRPr lang="en-US" sz="1350" dirty="0"/>
          </a:p>
        </p:txBody>
      </p:sp>
      <p:sp>
        <p:nvSpPr>
          <p:cNvPr id="39" name="Text 33"/>
          <p:cNvSpPr/>
          <p:nvPr/>
        </p:nvSpPr>
        <p:spPr>
          <a:xfrm>
            <a:off x="9858375" y="4524375"/>
            <a:ext cx="71520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Funnels, cohortes, retención — sin ver datos personales.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9420225" y="5305425"/>
            <a:ext cx="7820025" cy="876300"/>
          </a:xfrm>
          <a:prstGeom prst="roundRect">
            <a:avLst>
              <a:gd name="adj" fmla="val 15217"/>
            </a:avLst>
          </a:prstGeom>
          <a:solidFill>
            <a:srgbClr val="215AA8">
              <a:alpha val="10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620250" y="5486400"/>
            <a:ext cx="76425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CFDC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Pensado para servicios financieros: gobierno de datos, controles de acceso y trazabilidad a nivel enterprise.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2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704850"/>
            <a:ext cx="1844129" cy="323850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9675" y="7810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COMPATIBILIDAD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7750" y="1219200"/>
            <a:ext cx="16678275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 integra con </a:t>
            </a:r>
            <a:pPr algn="l" indent="0" marL="0">
              <a:lnSpc>
                <a:spcPct val="105000"/>
              </a:lnSpc>
              <a:buNone/>
            </a:pPr>
            <a:r>
              <a:rPr lang="en-US" sz="3600" b="1" spc="-90" kern="0" dirty="0">
                <a:solidFill>
                  <a:srgbClr val="F4D3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todo tu stack actual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47750" y="1832521"/>
            <a:ext cx="10791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es un reemplazo disruptivo. Se conecta con las herramientas que ya tienes — y las potencia.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" y="2413546"/>
            <a:ext cx="5283101" cy="2122884"/>
          </a:xfrm>
          <a:prstGeom prst="roundRect">
            <a:avLst>
              <a:gd name="adj" fmla="val 897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3975" y="2670721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275" y="2785021"/>
            <a:ext cx="247650" cy="2476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33575" y="2765971"/>
            <a:ext cx="19088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Fuentes de datos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1323975" y="3280321"/>
            <a:ext cx="4872570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Conecta con Segment, mParticle o directamente vía SDK / API REST, sin rehacer tu infraestructura.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323975" y="3974455"/>
            <a:ext cx="826889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57325" y="4041130"/>
            <a:ext cx="6363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227064" y="3974455"/>
            <a:ext cx="986879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60414" y="4041130"/>
            <a:ext cx="7963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mParticle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90143" y="3974455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3493" y="4041130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 REST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02301" y="2413546"/>
            <a:ext cx="5283250" cy="2122884"/>
          </a:xfrm>
          <a:prstGeom prst="roundRect">
            <a:avLst>
              <a:gd name="adj" fmla="val 897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78526" y="2670721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826" y="2785021"/>
            <a:ext cx="247650" cy="2476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88126" y="2765971"/>
            <a:ext cx="18703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CRM y Marketing</a:t>
            </a:r>
            <a:endParaRPr lang="en-US" sz="1725" dirty="0"/>
          </a:p>
        </p:txBody>
      </p:sp>
      <p:sp>
        <p:nvSpPr>
          <p:cNvPr id="22" name="Text 18"/>
          <p:cNvSpPr/>
          <p:nvPr/>
        </p:nvSpPr>
        <p:spPr>
          <a:xfrm>
            <a:off x="6778526" y="3280321"/>
            <a:ext cx="4872724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Exporta cohorts a Braze, Salesforce o HubSpot. Las audiencias se sincronizan en tiempo real.</a:t>
            </a:r>
            <a:endParaRPr lang="en-US" sz="1425" dirty="0"/>
          </a:p>
        </p:txBody>
      </p:sp>
      <p:sp>
        <p:nvSpPr>
          <p:cNvPr id="23" name="Shape 19"/>
          <p:cNvSpPr/>
          <p:nvPr/>
        </p:nvSpPr>
        <p:spPr>
          <a:xfrm>
            <a:off x="6778526" y="3974455"/>
            <a:ext cx="666750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911876" y="4041130"/>
            <a:ext cx="4762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Braze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521476" y="3974455"/>
            <a:ext cx="1066800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54826" y="4041130"/>
            <a:ext cx="8763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Salesforce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664476" y="3974455"/>
            <a:ext cx="826889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797826" y="4041130"/>
            <a:ext cx="6363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HubSpot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11957000" y="2413546"/>
            <a:ext cx="5283250" cy="2122884"/>
          </a:xfrm>
          <a:prstGeom prst="roundRect">
            <a:avLst>
              <a:gd name="adj" fmla="val 897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2233225" y="2670721"/>
            <a:ext cx="476250" cy="476250"/>
          </a:xfrm>
          <a:prstGeom prst="roundRect">
            <a:avLst>
              <a:gd name="adj" fmla="val 26000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7525" y="2785021"/>
            <a:ext cx="247650" cy="2476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2842825" y="2765971"/>
            <a:ext cx="17969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Warehouse</a:t>
            </a:r>
            <a:endParaRPr lang="en-US" sz="1725" dirty="0"/>
          </a:p>
        </p:txBody>
      </p:sp>
      <p:sp>
        <p:nvSpPr>
          <p:cNvPr id="33" name="Text 28"/>
          <p:cNvSpPr/>
          <p:nvPr/>
        </p:nvSpPr>
        <p:spPr>
          <a:xfrm>
            <a:off x="12233225" y="3280321"/>
            <a:ext cx="4872724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25" dirty="0">
                <a:solidFill>
                  <a:srgbClr val="A0B1D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Sincroniza eventos crudos a Snowflake, BigQuery o Redshift. Data science trabaja sobre los mismos datos.</a:t>
            </a:r>
            <a:endParaRPr lang="en-US" sz="1425" dirty="0"/>
          </a:p>
        </p:txBody>
      </p:sp>
      <p:sp>
        <p:nvSpPr>
          <p:cNvPr id="34" name="Shape 29"/>
          <p:cNvSpPr/>
          <p:nvPr/>
        </p:nvSpPr>
        <p:spPr>
          <a:xfrm>
            <a:off x="12233225" y="3974455"/>
            <a:ext cx="986879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2366575" y="4041130"/>
            <a:ext cx="7963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Snowflake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13296305" y="3974455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3429655" y="4041130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BigQuery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14279314" y="3974455"/>
            <a:ext cx="906810" cy="304800"/>
          </a:xfrm>
          <a:prstGeom prst="roundRect">
            <a:avLst>
              <a:gd name="adj" fmla="val 25000"/>
            </a:avLst>
          </a:prstGeom>
          <a:solidFill>
            <a:srgbClr val="215AA8">
              <a:alpha val="14000"/>
            </a:srgbClr>
          </a:solidFill>
          <a:ln w="9525">
            <a:solidFill>
              <a:srgbClr val="7FB0EF">
                <a:alpha val="22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4412664" y="4041130"/>
            <a:ext cx="7163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FC3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Redshift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1047750" y="4707880"/>
            <a:ext cx="5283101" cy="1138238"/>
          </a:xfrm>
          <a:prstGeom prst="roundRect">
            <a:avLst>
              <a:gd name="adj" fmla="val 133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4926955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647825" y="4907905"/>
            <a:ext cx="45782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SDKs nativos</a:t>
            </a:r>
            <a:endParaRPr lang="en-US" sz="1425" dirty="0"/>
          </a:p>
        </p:txBody>
      </p:sp>
      <p:sp>
        <p:nvSpPr>
          <p:cNvPr id="43" name="Text 37"/>
          <p:cNvSpPr/>
          <p:nvPr/>
        </p:nvSpPr>
        <p:spPr>
          <a:xfrm>
            <a:off x="1647825" y="5174605"/>
            <a:ext cx="4578248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3A4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iOS, Android, React Native, Flutter y Web. Rendimiento nativo, sin wrappers.</a:t>
            </a:r>
            <a:endParaRPr lang="en-US" sz="1238" dirty="0"/>
          </a:p>
        </p:txBody>
      </p:sp>
      <p:sp>
        <p:nvSpPr>
          <p:cNvPr id="44" name="Shape 38"/>
          <p:cNvSpPr/>
          <p:nvPr/>
        </p:nvSpPr>
        <p:spPr>
          <a:xfrm>
            <a:off x="6502301" y="4707880"/>
            <a:ext cx="5283250" cy="1138238"/>
          </a:xfrm>
          <a:prstGeom prst="roundRect">
            <a:avLst>
              <a:gd name="adj" fmla="val 133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426" y="4926955"/>
            <a:ext cx="228600" cy="2286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102376" y="4907905"/>
            <a:ext cx="45784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Complementa tu stack</a:t>
            </a:r>
            <a:endParaRPr lang="en-US" sz="1425" dirty="0"/>
          </a:p>
        </p:txBody>
      </p:sp>
      <p:sp>
        <p:nvSpPr>
          <p:cNvPr id="47" name="Text 40"/>
          <p:cNvSpPr/>
          <p:nvPr/>
        </p:nvSpPr>
        <p:spPr>
          <a:xfrm>
            <a:off x="7102376" y="5174605"/>
            <a:ext cx="4578401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3A4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Trabaja junto a tus herramientas actuales. Cada plataforma aporta lo que hace mejor.</a:t>
            </a:r>
            <a:endParaRPr lang="en-US" sz="1238" dirty="0"/>
          </a:p>
        </p:txBody>
      </p:sp>
      <p:sp>
        <p:nvSpPr>
          <p:cNvPr id="48" name="Shape 41"/>
          <p:cNvSpPr/>
          <p:nvPr/>
        </p:nvSpPr>
        <p:spPr>
          <a:xfrm>
            <a:off x="11957000" y="4707880"/>
            <a:ext cx="5283250" cy="1138238"/>
          </a:xfrm>
          <a:prstGeom prst="roundRect">
            <a:avLst>
              <a:gd name="adj" fmla="val 1338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5125" y="4926955"/>
            <a:ext cx="228600" cy="2286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12557075" y="4907905"/>
            <a:ext cx="45784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lock-in</a:t>
            </a:r>
            <a:endParaRPr lang="en-US" sz="1425" dirty="0"/>
          </a:p>
        </p:txBody>
      </p:sp>
      <p:sp>
        <p:nvSpPr>
          <p:cNvPr id="51" name="Text 43"/>
          <p:cNvSpPr/>
          <p:nvPr/>
        </p:nvSpPr>
        <p:spPr>
          <a:xfrm>
            <a:off x="12557075" y="5174605"/>
            <a:ext cx="4578401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3A4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datos siempre son tuyos. Exportación completa a tu warehouse cuando quieras.</a:t>
            </a:r>
            <a:endParaRPr lang="en-US" sz="12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15AA8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685800"/>
            <a:ext cx="2604195" cy="323850"/>
          </a:xfrm>
          <a:prstGeom prst="roundRect">
            <a:avLst>
              <a:gd name="adj" fmla="val 50000"/>
            </a:avLst>
          </a:prstGeom>
          <a:solidFill>
            <a:srgbClr val="215AA8">
              <a:alpha val="12000"/>
            </a:srgbClr>
          </a:solidFill>
          <a:ln w="9525">
            <a:solidFill>
              <a:srgbClr val="7FB0EF">
                <a:alpha val="3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9675" y="762000"/>
            <a:ext cx="23584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7FB0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VISIÓN DE LARGO PLAZO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7750" y="1181100"/>
            <a:ext cx="14716125" cy="98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50" b="1" spc="-9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es una herramienta. Es la </a:t>
            </a:r>
            <a:pPr algn="l" indent="0" marL="0">
              <a:lnSpc>
                <a:spcPct val="108000"/>
              </a:lnSpc>
              <a:buNone/>
            </a:pPr>
            <a:r>
              <a:rPr lang="en-US" sz="3450" b="1" spc="-90" kern="0" dirty="0">
                <a:solidFill>
                  <a:srgbClr val="6AA6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columna vertebral </a:t>
            </a:r>
            <a:pPr algn="l" indent="0" marL="0">
              <a:lnSpc>
                <a:spcPct val="108000"/>
              </a:lnSpc>
              <a:buNone/>
            </a:pPr>
            <a:r>
              <a:rPr lang="en-US" sz="3450" b="1" spc="-9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tu estrategia de datos.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1047750" y="2394049"/>
            <a:ext cx="4657279" cy="3536900"/>
          </a:xfrm>
          <a:prstGeom prst="roundRect">
            <a:avLst>
              <a:gd name="adj" fmla="val 430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6825" y="2594074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698849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47850" y="2594074"/>
            <a:ext cx="37472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Cultura data-driven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1847850" y="2870299"/>
            <a:ext cx="374724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8AA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Producto, Marketing, Riesgo y Operaciones comparten el mismo lenguaje de datos. Sin silos.</a:t>
            </a:r>
            <a:endParaRPr lang="en-US" sz="1238" dirty="0"/>
          </a:p>
        </p:txBody>
      </p:sp>
      <p:sp>
        <p:nvSpPr>
          <p:cNvPr id="11" name="Shape 8"/>
          <p:cNvSpPr/>
          <p:nvPr/>
        </p:nvSpPr>
        <p:spPr>
          <a:xfrm>
            <a:off x="5838379" y="2394049"/>
            <a:ext cx="4657279" cy="3536900"/>
          </a:xfrm>
          <a:prstGeom prst="roundRect">
            <a:avLst>
              <a:gd name="adj" fmla="val 430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57454" y="2594074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229" y="2698849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8479" y="2594074"/>
            <a:ext cx="37472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predictivos</a:t>
            </a:r>
            <a:endParaRPr lang="en-US" sz="1425" dirty="0"/>
          </a:p>
        </p:txBody>
      </p:sp>
      <p:sp>
        <p:nvSpPr>
          <p:cNvPr id="15" name="Text 11"/>
          <p:cNvSpPr/>
          <p:nvPr/>
        </p:nvSpPr>
        <p:spPr>
          <a:xfrm>
            <a:off x="6638479" y="2870299"/>
            <a:ext cx="374724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8AA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historial de comportamiento, data science predice churn, propensión y riesgo.</a:t>
            </a:r>
            <a:endParaRPr lang="en-US" sz="1238" dirty="0"/>
          </a:p>
        </p:txBody>
      </p:sp>
      <p:sp>
        <p:nvSpPr>
          <p:cNvPr id="16" name="Shape 12"/>
          <p:cNvSpPr/>
          <p:nvPr/>
        </p:nvSpPr>
        <p:spPr>
          <a:xfrm>
            <a:off x="1047750" y="6064300"/>
            <a:ext cx="4657279" cy="3536900"/>
          </a:xfrm>
          <a:prstGeom prst="roundRect">
            <a:avLst>
              <a:gd name="adj" fmla="val 430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266825" y="62643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63691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47850" y="6264325"/>
            <a:ext cx="37472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Velocidad de iteración</a:t>
            </a:r>
            <a:endParaRPr lang="en-US" sz="1425" dirty="0"/>
          </a:p>
        </p:txBody>
      </p:sp>
      <p:sp>
        <p:nvSpPr>
          <p:cNvPr id="20" name="Text 15"/>
          <p:cNvSpPr/>
          <p:nvPr/>
        </p:nvSpPr>
        <p:spPr>
          <a:xfrm>
            <a:off x="1847850" y="6540550"/>
            <a:ext cx="374724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8AA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release validado con A/B testing. Quien más experimenta, más rápido aprende.</a:t>
            </a:r>
            <a:endParaRPr lang="en-US" sz="1238" dirty="0"/>
          </a:p>
        </p:txBody>
      </p:sp>
      <p:sp>
        <p:nvSpPr>
          <p:cNvPr id="21" name="Shape 16"/>
          <p:cNvSpPr/>
          <p:nvPr/>
        </p:nvSpPr>
        <p:spPr>
          <a:xfrm>
            <a:off x="5838379" y="6064300"/>
            <a:ext cx="4657279" cy="3536900"/>
          </a:xfrm>
          <a:prstGeom prst="roundRect">
            <a:avLst>
              <a:gd name="adj" fmla="val 430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57454" y="6264325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215AA8">
              <a:alpha val="18000"/>
            </a:srgbClr>
          </a:solidFill>
          <a:ln w="9525">
            <a:solidFill>
              <a:srgbClr val="7FB0EF">
                <a:alpha val="24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29" y="63691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38479" y="6264325"/>
            <a:ext cx="374724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Escala a nuevos productos</a:t>
            </a:r>
            <a:endParaRPr lang="en-US" sz="1425" dirty="0"/>
          </a:p>
        </p:txBody>
      </p:sp>
      <p:sp>
        <p:nvSpPr>
          <p:cNvPr id="25" name="Text 19"/>
          <p:cNvSpPr/>
          <p:nvPr/>
        </p:nvSpPr>
        <p:spPr>
          <a:xfrm>
            <a:off x="6638479" y="6540550"/>
            <a:ext cx="3747247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98AAC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Billetera, seguro embedded o crédito: el stack de analytics ya está listo.</a:t>
            </a:r>
            <a:endParaRPr lang="en-US" sz="1238" dirty="0"/>
          </a:p>
        </p:txBody>
      </p:sp>
      <p:sp>
        <p:nvSpPr>
          <p:cNvPr id="26" name="Text 20"/>
          <p:cNvSpPr/>
          <p:nvPr/>
        </p:nvSpPr>
        <p:spPr>
          <a:xfrm>
            <a:off x="10724257" y="2394049"/>
            <a:ext cx="671131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spc="113" kern="0" dirty="0">
                <a:solidFill>
                  <a:srgbClr val="8093B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MADUREZ DE DATOS EN EL TIEMPO</a:t>
            </a:r>
            <a:endParaRPr lang="en-US" sz="1013" dirty="0"/>
          </a:p>
        </p:txBody>
      </p:sp>
      <p:sp>
        <p:nvSpPr>
          <p:cNvPr id="27" name="Shape 21"/>
          <p:cNvSpPr/>
          <p:nvPr/>
        </p:nvSpPr>
        <p:spPr>
          <a:xfrm>
            <a:off x="10724257" y="2679799"/>
            <a:ext cx="6515844" cy="792361"/>
          </a:xfrm>
          <a:prstGeom prst="roundRect">
            <a:avLst>
              <a:gd name="adj" fmla="val 16829"/>
            </a:avLst>
          </a:prstGeom>
          <a:solidFill>
            <a:srgbClr val="215AA8">
              <a:alpha val="10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924282" y="2841724"/>
            <a:ext cx="6299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7FB0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AÑO 1 — VISIBILIDAD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24282" y="3089374"/>
            <a:ext cx="629926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Funnel cross-canal · Dashboards por área · Session Replay activo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0724257" y="3586460"/>
            <a:ext cx="6515844" cy="792361"/>
          </a:xfrm>
          <a:prstGeom prst="roundRect">
            <a:avLst>
              <a:gd name="adj" fmla="val 1682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924282" y="3748385"/>
            <a:ext cx="6299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CFDC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AÑO 2 — OPTIMIZACIÓN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0924282" y="3996035"/>
            <a:ext cx="629926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A/B testing sistemático · Cohorts al CRM · Alertas de churn en producción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10724257" y="4493121"/>
            <a:ext cx="6515844" cy="792361"/>
          </a:xfrm>
          <a:prstGeom prst="roundRect">
            <a:avLst>
              <a:gd name="adj" fmla="val 16829"/>
            </a:avLst>
          </a:prstGeom>
          <a:solidFill>
            <a:srgbClr val="F4D34C">
              <a:alpha val="7000"/>
            </a:srgbClr>
          </a:solidFill>
          <a:ln w="9525">
            <a:solidFill>
              <a:srgbClr val="F4D34C">
                <a:alpha val="28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924282" y="4655046"/>
            <a:ext cx="62992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8" kern="0" dirty="0">
                <a:solidFill>
                  <a:srgbClr val="F4D34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AÑO 3+ — PREDICCIÓN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10924282" y="4902696"/>
            <a:ext cx="6299268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FB2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Modelos ML sobre historial · Personalización en tiempo real · Ventaja estructural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0724257" y="8491538"/>
            <a:ext cx="6515844" cy="1109663"/>
          </a:xfrm>
          <a:prstGeom prst="roundRect">
            <a:avLst>
              <a:gd name="adj" fmla="val 13734"/>
            </a:avLst>
          </a:prstGeom>
          <a:solidFill>
            <a:srgbClr val="215AA8">
              <a:alpha val="16000"/>
            </a:srgbClr>
          </a:solidFill>
          <a:ln w="9525">
            <a:solidFill>
              <a:srgbClr val="7FB0EF">
                <a:alpha val="26000"/>
              </a:srgbClr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0943332" y="8672513"/>
            <a:ext cx="62600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D3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dato compuesto</a:t>
            </a:r>
            <a:endParaRPr lang="en-US" sz="1350" dirty="0"/>
          </a:p>
        </p:txBody>
      </p:sp>
      <p:sp>
        <p:nvSpPr>
          <p:cNvPr id="38" name="Text 32"/>
          <p:cNvSpPr/>
          <p:nvPr/>
        </p:nvSpPr>
        <p:spPr>
          <a:xfrm>
            <a:off x="10943332" y="8948738"/>
            <a:ext cx="6260025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38" dirty="0">
                <a:solidFill>
                  <a:srgbClr val="CDD9E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evento capturado hoy entrena los modelos de mañana. El banco que empieza antes construye un activo de datos que la competencia no puede replicar.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2026-06-12T14:44:36Z</dcterms:created>
  <dcterms:modified xsi:type="dcterms:W3CDTF">2026-06-12T14:44:36Z</dcterms:modified>
</cp:coreProperties>
</file>